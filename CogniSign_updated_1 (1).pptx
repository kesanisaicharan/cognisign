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20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esanisaicharan.github.io/cognisig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esanisaicharan.github.io/cognisign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020617"/>
            </a:gs>
            <a:gs pos="100000">
              <a:srgbClr val="1E3A8A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17136" y="274320"/>
            <a:ext cx="109728" cy="109728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535424" y="1371600"/>
            <a:ext cx="73152" cy="7315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26280" y="4389120"/>
            <a:ext cx="91440" cy="9144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44568" y="3200400"/>
            <a:ext cx="54864" cy="54864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30852" y="457200"/>
            <a:ext cx="82296" cy="82296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  <a:effectLst>
            <a:outerShdw blurRad="190500" dist="50800" dir="2700000" algn="bl" rotWithShape="0">
              <a:srgbClr val="06B6D4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01368" y="254107"/>
            <a:ext cx="5486400" cy="45720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926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to Product: Build with Gemini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56497" y="29260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Deaf Individual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Language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48000" y="2186379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254000" dist="50800" dir="2700000" algn="bl" rotWithShape="0">
              <a:srgbClr val="06B6D4">
                <a:alpha val="6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1100" y="2186379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985951" y="3237096"/>
            <a:ext cx="10058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35391" y="1060031"/>
            <a:ext cx="5108609" cy="3060833"/>
          </a:xfrm>
          <a:prstGeom prst="rect">
            <a:avLst/>
          </a:prstGeom>
          <a:solidFill>
            <a:srgbClr val="1E293B">
              <a:alpha val="60000"/>
            </a:srgbClr>
          </a:solidFill>
          <a:ln w="25400">
            <a:solidFill>
              <a:srgbClr val="22C55E"/>
            </a:solidFill>
            <a:prstDash val="solid"/>
          </a:ln>
          <a:effectLst>
            <a:outerShdw blurRad="254000" dist="50800" dir="2700000" algn="bl" rotWithShape="0">
              <a:srgbClr val="22C55E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 flipH="1">
            <a:off x="3936731" y="1940212"/>
            <a:ext cx="8662737" cy="31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4626864" y="247742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303520"/>
            <a:ext cx="9144000" cy="59436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53492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Every Second Matters, Every Sign Must Be Understood."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-45720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• VIT Vellore &amp; AITS Rajampet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45720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Institute of Management, Chandigarh University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742950"/>
            <a:ext cx="7680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rPr dirty="0"/>
              <a:t>Hosted By: Apex Institute of Management, Chandigarh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7433" y="1060031"/>
            <a:ext cx="768096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rPr sz="4400" dirty="0"/>
              <a:t>CogniSign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9" y="1678602"/>
            <a:ext cx="735466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Calibri"/>
              </a:defRPr>
            </a:pPr>
            <a:r>
              <a:rPr sz="1400" dirty="0"/>
              <a:t>Breaking the Emergency Barrier</a:t>
            </a:r>
            <a:br>
              <a:rPr sz="1400" dirty="0"/>
            </a:br>
            <a:r>
              <a:rPr sz="1400" dirty="0"/>
              <a:t>for the Deaf and Hard-of-Hearing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3356" y="2194122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1">
                <a:solidFill>
                  <a:srgbClr val="F8FAFC"/>
                </a:solidFill>
                <a:latin typeface="Calibri"/>
              </a:defRPr>
            </a:pPr>
            <a:r>
              <a:rPr dirty="0"/>
              <a:t>"When Every Second Matters, Every Sign Must Be Understood."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459" y="1152625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2168" y="1152625"/>
            <a:ext cx="243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🤟</a:t>
            </a:r>
            <a:br>
              <a:rPr dirty="0"/>
            </a:br>
            <a:r>
              <a:rPr dirty="0"/>
              <a:t>Sign Language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459" y="2091088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9600" y="2003499"/>
            <a:ext cx="243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✨</a:t>
            </a:r>
            <a:br>
              <a:rPr dirty="0"/>
            </a:br>
            <a:r>
              <a:rPr dirty="0"/>
              <a:t>AI Bridge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2168" y="3049524"/>
            <a:ext cx="2438400" cy="82296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9600" y="2871335"/>
            <a:ext cx="243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🚑</a:t>
            </a:r>
            <a:br>
              <a:rPr dirty="0"/>
            </a:br>
            <a:r>
              <a:rPr dirty="0"/>
              <a:t>Responder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3560144"/>
            <a:ext cx="4937760" cy="347472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06240" y="3560144"/>
            <a:ext cx="4937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06B6D4"/>
                </a:solidFill>
                <a:latin typeface="Calibri"/>
              </a:defRPr>
            </a:pPr>
            <a:r>
              <a:rPr dirty="0"/>
              <a:t>✨ AI-Powered Emergency Communication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3176337" y="4389120"/>
            <a:ext cx="15374433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🚀 Team VELOCITY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33722"/>
            <a:ext cx="7680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rPr lang="en-US" sz="1100" b="1" dirty="0">
                <a:solidFill>
                  <a:srgbClr val="38BDF8"/>
                </a:solidFill>
                <a:latin typeface="Calibri"/>
              </a:rPr>
              <a:t>Jahnavi Polisetty</a:t>
            </a:r>
            <a:r>
              <a:rPr lang="en-US" sz="1000" b="0" dirty="0">
                <a:solidFill>
                  <a:srgbClr val="64748B"/>
                </a:solidFill>
                <a:latin typeface="Calibri"/>
              </a:rPr>
              <a:t>  •  </a:t>
            </a:r>
            <a:r>
              <a:rPr lang="en-US" sz="1100" b="1" dirty="0">
                <a:solidFill>
                  <a:srgbClr val="A78BFA"/>
                </a:solidFill>
                <a:latin typeface="Calibri"/>
              </a:rPr>
              <a:t>Indrani</a:t>
            </a:r>
            <a:r>
              <a:rPr lang="en-US" sz="1000" b="0" dirty="0">
                <a:solidFill>
                  <a:srgbClr val="64748B"/>
                </a:solidFill>
                <a:latin typeface="Calibri"/>
              </a:rPr>
              <a:t>  •  </a:t>
            </a:r>
            <a:r>
              <a:rPr lang="en-US" sz="1100" b="1" dirty="0">
                <a:solidFill>
                  <a:srgbClr val="34D399"/>
                </a:solidFill>
                <a:latin typeface="Calibri"/>
              </a:rPr>
              <a:t>Kesani Sai Charan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60000"/>
            <a:ext cx="76809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0" u="sng" dirty="0">
                <a:solidFill>
                  <a:schemeClr val="bg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https://kesanisaicharan.github.io/cognisign/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Silent Emergency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432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3922295" cy="3749040"/>
          </a:xfrm>
          <a:prstGeom prst="rect">
            <a:avLst/>
          </a:prstGeom>
          <a:solidFill>
            <a:srgbClr val="1E3A8A">
              <a:alpha val="85000"/>
            </a:srgbClr>
          </a:solidFill>
          <a:ln w="31750">
            <a:solidFill>
              <a:srgbClr val="EF4444"/>
            </a:solidFill>
            <a:prstDash val="solid"/>
          </a:ln>
          <a:effectLst>
            <a:outerShdw blurRad="190500" dist="50800" dir="2700000" algn="bl" rotWithShape="0">
              <a:srgbClr val="EF4444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371600"/>
            <a:ext cx="1679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05802"/>
            <a:ext cx="3060834" cy="3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 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🚗💥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" y="2902017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Accident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2329" y="336114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🚑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0" y="409266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Arrives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004109" cy="3821229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25400" dir="2700000" algn="bl" rotWithShape="0">
              <a:srgbClr val="020617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77878" y="1174282"/>
            <a:ext cx="6020602" cy="517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paramedic asks: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7878" y="1673352"/>
            <a:ext cx="6020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you hear me?"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7878" y="2020824"/>
            <a:ext cx="60206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happened?"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45255" y="2377440"/>
            <a:ext cx="5953225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does it hurt?"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45255" y="2637322"/>
            <a:ext cx="5953225" cy="5813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signs: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45255" y="2926080"/>
            <a:ext cx="595322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can't breathe"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5255" y="3267777"/>
            <a:ext cx="5953225" cy="6458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an ambulance"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2257" y="3566160"/>
            <a:ext cx="5876223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chest pain"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3006" y="3821229"/>
            <a:ext cx="5895474" cy="924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understands.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4846320"/>
            <a:ext cx="8128535" cy="197317"/>
          </a:xfrm>
          <a:prstGeom prst="rect">
            <a:avLst/>
          </a:prstGeom>
          <a:solidFill>
            <a:srgbClr val="EF4444">
              <a:alpha val="8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18508"/>
            <a:ext cx="7945655" cy="125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is available. Communication fails. This is not a medical problem—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3006" y="4745736"/>
            <a:ext cx="12623532" cy="444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communication problem.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F391499-B1FD-C0BA-558E-05FFA8031EE8}"/>
              </a:ext>
            </a:extLst>
          </p:cNvPr>
          <p:cNvGrpSpPr/>
          <p:nvPr/>
        </p:nvGrpSpPr>
        <p:grpSpPr>
          <a:xfrm>
            <a:off x="45720" y="274320"/>
            <a:ext cx="8876899" cy="4636008"/>
            <a:chOff x="45720" y="274320"/>
            <a:chExt cx="10927080" cy="5449824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0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Problem Impact &amp; Global Scale</a:t>
              </a:r>
              <a:endParaRPr lang="en-US" sz="40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011680" cy="73152"/>
            </a:xfrm>
            <a:prstGeom prst="rect">
              <a:avLst/>
            </a:prstGeom>
            <a:solidFill>
              <a:srgbClr val="06B6D4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4572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6B6D4"/>
              </a:solidFill>
              <a:prstDash val="solid"/>
            </a:ln>
            <a:effectLst>
              <a:outerShdw blurRad="152400" dist="50800" dir="2700000" algn="bl" rotWithShape="0">
                <a:srgbClr val="06B6D4">
                  <a:alpha val="15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64008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🌍</a:t>
              </a:r>
              <a:endParaRPr lang="en-US" sz="3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4008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70M+</a:t>
              </a:r>
              <a:endParaRPr lang="en-US" sz="2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Language Users Worldwide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01752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52400" dist="50800" dir="2700000" algn="bl" rotWithShape="0">
                <a:srgbClr val="EF4444">
                  <a:alpha val="15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320040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⏳</a:t>
              </a:r>
              <a:endParaRPr lang="en-US" sz="3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0040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Minutes</a:t>
              </a:r>
              <a:endParaRPr lang="en-US" sz="2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15468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Critical Time Lost in Emergency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57784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52400" dist="50800" dir="2700000" algn="bl" rotWithShape="0">
                <a:srgbClr val="EF4444">
                  <a:alpha val="15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576072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👤</a:t>
              </a:r>
              <a:endParaRPr lang="en-US" sz="3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76072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24/7</a:t>
              </a:r>
              <a:endParaRPr lang="en-US" sz="2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1500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Interpreter Availability Gap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138160" y="1097280"/>
              <a:ext cx="2423160" cy="164592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2C55E"/>
              </a:solidFill>
              <a:prstDash val="solid"/>
            </a:ln>
            <a:effectLst>
              <a:outerShdw blurRad="152400" dist="50800" dir="2700000" algn="bl" rotWithShape="0">
                <a:srgbClr val="22C55E">
                  <a:alpha val="15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8321040" y="123444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🚨</a:t>
              </a:r>
              <a:endParaRPr lang="en-US" sz="3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321040" y="1737360"/>
              <a:ext cx="2057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Millions</a:t>
              </a:r>
              <a:endParaRPr lang="en-US" sz="2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275320" y="2194560"/>
              <a:ext cx="2148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Affected by Communication Barriers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57200" y="3017520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Critical Challenges</a:t>
              </a:r>
              <a:endParaRPr lang="en-US" sz="2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3520440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40080" y="3593592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⚠️</a:t>
              </a:r>
              <a:endParaRPr lang="en-US" sz="18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188720" y="3575304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Communication Delays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188720" y="3776472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Critical seconds lost during emergencies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57200" y="4087368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40080" y="4160520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❌</a:t>
              </a:r>
              <a:endParaRPr lang="en-US" sz="18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188720" y="4142232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Interpreter Unavailability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188720" y="4343400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experts rarely present at accident sites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57200" y="4654296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640080" y="4727448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🐌</a:t>
              </a:r>
              <a:endParaRPr lang="en-US" sz="18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188720" y="4709160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Slow Translation</a:t>
              </a:r>
              <a:endParaRPr lang="en-US" sz="13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1188720" y="4910328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Current methods take too long in critical moments</a:t>
              </a:r>
              <a:endParaRPr lang="en-US" sz="11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57200" y="5221224"/>
              <a:ext cx="10515600" cy="502920"/>
            </a:xfrm>
            <a:prstGeom prst="rect">
              <a:avLst/>
            </a:prstGeom>
            <a:solidFill>
              <a:srgbClr val="EF4444">
                <a:alpha val="10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640080" y="5294376"/>
              <a:ext cx="365760" cy="3566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📡</a:t>
              </a:r>
              <a:endParaRPr lang="en-US" sz="18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188720" y="5276088"/>
              <a:ext cx="32004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Connectivity Issues</a:t>
              </a:r>
              <a:endParaRPr lang="en-US" sz="13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188720" y="5477256"/>
              <a:ext cx="91440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Internet unavailable during disasters and remote areas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BECF8EF-BA30-1A22-0DFD-8BD1EE62EE8D}"/>
              </a:ext>
            </a:extLst>
          </p:cNvPr>
          <p:cNvGrpSpPr/>
          <p:nvPr/>
        </p:nvGrpSpPr>
        <p:grpSpPr>
          <a:xfrm>
            <a:off x="457200" y="274320"/>
            <a:ext cx="8523171" cy="4663440"/>
            <a:chOff x="457200" y="274320"/>
            <a:chExt cx="10789920" cy="5852160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Why Current Solutions Fail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560320" cy="73152"/>
            </a:xfrm>
            <a:prstGeom prst="rect">
              <a:avLst/>
            </a:prstGeom>
            <a:solidFill>
              <a:srgbClr val="EF4444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457200" y="1051560"/>
              <a:ext cx="3474720" cy="41148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1828800" y="1280160"/>
              <a:ext cx="731520" cy="731520"/>
            </a:xfrm>
            <a:prstGeom prst="ellipse">
              <a:avLst/>
            </a:prstGeom>
            <a:solidFill>
              <a:srgbClr val="EF4444">
                <a:alpha val="75000"/>
              </a:srgbClr>
            </a:solidFill>
            <a:ln w="25400">
              <a:solidFill>
                <a:srgbClr val="EF4444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828800" y="128016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👨‍⚕️</a:t>
              </a:r>
              <a:endParaRPr lang="en-US" sz="3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40080" y="214884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Human Interpreters</a:t>
              </a:r>
              <a:endParaRPr lang="en-US" sz="15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31520" y="269748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⏳ Not available 24/7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31520" y="320040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💰 Expensive to employ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70332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🚗 Cannot instantly reach sites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114800" y="1051560"/>
              <a:ext cx="3474720" cy="41148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5486400" y="1280160"/>
              <a:ext cx="731520" cy="731520"/>
            </a:xfrm>
            <a:prstGeom prst="ellipse">
              <a:avLst/>
            </a:prstGeom>
            <a:solidFill>
              <a:srgbClr val="EF4444">
                <a:alpha val="75000"/>
              </a:srgbClr>
            </a:solidFill>
            <a:ln w="25400">
              <a:solidFill>
                <a:srgbClr val="EF4444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486400" y="128016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⌨️</a:t>
              </a:r>
              <a:endParaRPr lang="en-US" sz="3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297680" y="214884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Text-Based Apps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389120" y="269748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🐌 Extremely slow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89120" y="320040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😰 Difficult during panic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389120" y="370332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🚑 Not practical for injured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772400" y="1051560"/>
              <a:ext cx="3474720" cy="411480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9144000" y="1280160"/>
              <a:ext cx="731520" cy="731520"/>
            </a:xfrm>
            <a:prstGeom prst="ellipse">
              <a:avLst/>
            </a:prstGeom>
            <a:solidFill>
              <a:srgbClr val="EF4444">
                <a:alpha val="75000"/>
              </a:srgbClr>
            </a:solidFill>
            <a:ln w="25400">
              <a:solidFill>
                <a:srgbClr val="EF4444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9144000" y="1280160"/>
              <a:ext cx="73152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📶</a:t>
              </a:r>
              <a:endParaRPr lang="en-US" sz="3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955280" y="214884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Generic Translation Apps</a:t>
              </a:r>
              <a:endParaRPr lang="en-US" sz="15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046720" y="269748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📡 Require internet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046720" y="320040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❌ Not emergency-optimized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046720" y="3703320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↔️ One-way only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57200" y="5349240"/>
              <a:ext cx="10515600" cy="777240"/>
            </a:xfrm>
            <a:prstGeom prst="rect">
              <a:avLst/>
            </a:prstGeom>
            <a:solidFill>
              <a:srgbClr val="06B6D4">
                <a:alpha val="12000"/>
              </a:srgbClr>
            </a:solidFill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31520" y="5468112"/>
              <a:ext cx="9966960" cy="5394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🎯 The Gap: There is no fast, offline, emergency-focused communication platform specifically designed for deaf individuals.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4CBA9FCC-F53C-E036-20B1-EAF98201A205}"/>
              </a:ext>
            </a:extLst>
          </p:cNvPr>
          <p:cNvGrpSpPr/>
          <p:nvPr/>
        </p:nvGrpSpPr>
        <p:grpSpPr>
          <a:xfrm>
            <a:off x="-144379" y="-317634"/>
            <a:ext cx="9288379" cy="5335706"/>
            <a:chOff x="731520" y="457200"/>
            <a:chExt cx="10241280" cy="5212080"/>
          </a:xfrm>
        </p:grpSpPr>
        <p:sp>
          <p:nvSpPr>
            <p:cNvPr id="2" name="Shape 0"/>
            <p:cNvSpPr/>
            <p:nvPr/>
          </p:nvSpPr>
          <p:spPr>
            <a:xfrm>
              <a:off x="731520" y="457200"/>
              <a:ext cx="274320" cy="274320"/>
            </a:xfrm>
            <a:prstGeom prst="ellipse">
              <a:avLst/>
            </a:prstGeom>
            <a:solidFill>
              <a:srgbClr val="06B6D4">
                <a:alpha val="35000"/>
              </a:srgbClr>
            </a:solidFill>
            <a:ln/>
            <a:effectLst>
              <a:outerShdw blurRad="2540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10058400" y="914400"/>
              <a:ext cx="219456" cy="219456"/>
            </a:xfrm>
            <a:prstGeom prst="ellipse">
              <a:avLst/>
            </a:prstGeom>
            <a:solidFill>
              <a:srgbClr val="22C55E">
                <a:alpha val="35000"/>
              </a:srgbClr>
            </a:solidFill>
            <a:ln/>
            <a:effectLst>
              <a:outerShdw blurRad="254000" dist="50800" dir="2700000" algn="bl" rotWithShape="0">
                <a:srgbClr val="22C55E">
                  <a:alpha val="50000"/>
                </a:srgbClr>
              </a:outerShdw>
            </a:effectLst>
          </p:spPr>
        </p:sp>
        <p:sp>
          <p:nvSpPr>
            <p:cNvPr id="4" name="Shape 2"/>
            <p:cNvSpPr/>
            <p:nvPr/>
          </p:nvSpPr>
          <p:spPr>
            <a:xfrm>
              <a:off x="1371600" y="5486400"/>
              <a:ext cx="182880" cy="182880"/>
            </a:xfrm>
            <a:prstGeom prst="ellipse">
              <a:avLst/>
            </a:prstGeom>
            <a:solidFill>
              <a:srgbClr val="06B6D4">
                <a:alpha val="35000"/>
              </a:srgbClr>
            </a:solidFill>
            <a:ln/>
            <a:effectLst>
              <a:outerShdw blurRad="2540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914400" y="73152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600" dirty="0">
                  <a:solidFill>
                    <a:srgbClr val="94A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Introducing</a:t>
              </a:r>
              <a:endParaRPr lang="en-US" sz="2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143000"/>
              <a:ext cx="10058400" cy="640080"/>
            </a:xfrm>
            <a:prstGeom prst="rect">
              <a:avLst/>
            </a:prstGeom>
            <a:noFill/>
            <a:ln/>
            <a:effectLst>
              <a:outerShdw blurRad="254000" dist="50800" dir="2700000" algn="bl" rotWithShape="0">
                <a:srgbClr val="06B6D4">
                  <a:alpha val="40000"/>
                </a:srgbClr>
              </a:outerShdw>
            </a:effectLst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CogniSign</a:t>
              </a:r>
              <a:endParaRPr lang="en-US" sz="7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828800" y="187452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AI-Powered Real-Time Emergency Communication Platform</a:t>
              </a:r>
              <a:endParaRPr lang="en-US" sz="1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828800" y="2423160"/>
              <a:ext cx="8229600" cy="1280160"/>
            </a:xfrm>
            <a:prstGeom prst="rect">
              <a:avLst/>
            </a:prstGeom>
            <a:solidFill>
              <a:srgbClr val="1E293B"/>
            </a:solidFill>
            <a:ln w="25400">
              <a:solidFill>
                <a:srgbClr val="22C55E"/>
              </a:solidFill>
              <a:prstDash val="solid"/>
            </a:ln>
            <a:effectLst>
              <a:outerShdw blurRad="254000" dist="50800" dir="2700000" algn="bl" rotWithShape="0">
                <a:srgbClr val="22C55E">
                  <a:alpha val="30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103120" y="2560320"/>
              <a:ext cx="7680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Our Mission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103120" y="2880360"/>
              <a:ext cx="76809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 ensure that no emergency becomes more dangerous because a person cannot be understood.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45920" y="3977640"/>
              <a:ext cx="1371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solidFill>
                    <a:srgbClr val="000000"/>
                  </a:solidFill>
                </a:rPr>
                <a:t>🤟</a:t>
              </a:r>
              <a:endParaRPr lang="en-US" sz="4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645920" y="457200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Language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0" y="4251960"/>
              <a:ext cx="914400" cy="0"/>
            </a:xfrm>
            <a:prstGeom prst="line">
              <a:avLst/>
            </a:prstGeom>
            <a:noFill/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840480" y="40233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840480" y="4297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389120" y="3886200"/>
              <a:ext cx="1280160" cy="1280160"/>
            </a:xfrm>
            <a:prstGeom prst="ellipse">
              <a:avLst/>
            </a:prstGeom>
            <a:solidFill>
              <a:srgbClr val="06B6D4">
                <a:alpha val="75000"/>
              </a:srgbClr>
            </a:solidFill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389120" y="3931920"/>
              <a:ext cx="1280160" cy="11887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🤖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Engine</a:t>
              </a:r>
              <a:endParaRPr lang="en-US" sz="18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760720" y="4251960"/>
              <a:ext cx="914400" cy="0"/>
            </a:xfrm>
            <a:prstGeom prst="line">
              <a:avLst/>
            </a:prstGeom>
            <a:noFill/>
            <a:ln w="25400">
              <a:solidFill>
                <a:srgbClr val="06B6D4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6309360" y="402336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309360" y="429768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6B6D4"/>
                  </a:solidFill>
                </a:rPr>
                <a:t>→</a:t>
              </a:r>
              <a:endParaRPr lang="en-US" sz="2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040880" y="3977640"/>
              <a:ext cx="1371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dirty="0">
                  <a:solidFill>
                    <a:srgbClr val="000000"/>
                  </a:solidFill>
                </a:rPr>
                <a:t>🚑</a:t>
              </a:r>
              <a:endParaRPr lang="en-US" sz="4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040880" y="4572000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Emergency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Responder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828800" y="5029200"/>
              <a:ext cx="2560320" cy="54864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965960" y="5102352"/>
              <a:ext cx="45720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</a:rPr>
                <a:t>⚡</a:t>
              </a:r>
              <a:endParaRPr lang="en-US" sz="2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468880" y="5120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Real-Time Translation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572000" y="5029200"/>
              <a:ext cx="2560320" cy="54864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4709160" y="5102352"/>
              <a:ext cx="45720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</a:rPr>
                <a:t>📴</a:t>
              </a:r>
              <a:endParaRPr lang="en-US" sz="2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212080" y="5120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Works Offline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315200" y="5029200"/>
              <a:ext cx="2560320" cy="54864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452360" y="5102352"/>
              <a:ext cx="45720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000000"/>
                  </a:solidFill>
                </a:rPr>
                <a:t>🎯</a:t>
              </a:r>
              <a:endParaRPr lang="en-US" sz="2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955280" y="5120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Emergency-Optimized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ECC3E60C-1EAD-0CDF-78E4-38B6232EBA89}"/>
              </a:ext>
            </a:extLst>
          </p:cNvPr>
          <p:cNvGrpSpPr/>
          <p:nvPr/>
        </p:nvGrpSpPr>
        <p:grpSpPr>
          <a:xfrm>
            <a:off x="457200" y="274320"/>
            <a:ext cx="8465419" cy="4586438"/>
            <a:chOff x="457200" y="274320"/>
            <a:chExt cx="10515600" cy="5760720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 CogniSign Works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286000" cy="73152"/>
            </a:xfrm>
            <a:prstGeom prst="rect">
              <a:avLst/>
            </a:prstGeom>
            <a:solidFill>
              <a:srgbClr val="06B6D4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457200" y="1051560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Deaf User → Responder</a:t>
              </a:r>
              <a:endParaRPr lang="en-US" sz="16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40080" y="150876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6" name="Text 4"/>
            <p:cNvSpPr/>
            <p:nvPr/>
          </p:nvSpPr>
          <p:spPr>
            <a:xfrm>
              <a:off x="822960" y="158191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🤟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234440" y="158191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Language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971800" y="196596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40080" y="210312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822960" y="217627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📹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34440" y="217627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 Capture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971800" y="256032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0080" y="269748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822960" y="277063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🧠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234440" y="277063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Recognition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71800" y="315468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0080" y="329184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822960" y="336499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📝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234440" y="336499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 Output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71800" y="374904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6B6D4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40080" y="388620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101600" dist="50800" dir="2700000" algn="bl" rotWithShape="0">
                <a:srgbClr val="06B6D4">
                  <a:alpha val="10000"/>
                </a:srgb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822960" y="395935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🔊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234440" y="395935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Synthesis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760720" y="1051560"/>
              <a:ext cx="52120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Responder → Deaf User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943600" y="150876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26" name="Text 24"/>
            <p:cNvSpPr/>
            <p:nvPr/>
          </p:nvSpPr>
          <p:spPr>
            <a:xfrm>
              <a:off x="6126480" y="158191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🎤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537960" y="158191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Input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275320" y="196596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943600" y="210312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6126480" y="217627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🧠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537960" y="217627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Voice Recognition</a:t>
              </a:r>
              <a:endParaRPr lang="en-US" sz="13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275320" y="256032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943600" y="269748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34" name="Text 32"/>
            <p:cNvSpPr/>
            <p:nvPr/>
          </p:nvSpPr>
          <p:spPr>
            <a:xfrm>
              <a:off x="6126480" y="277063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📝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537960" y="277063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Text Conversion</a:t>
              </a:r>
              <a:endParaRPr lang="en-US" sz="13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275320" y="315468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5943600" y="329184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38" name="Text 36"/>
            <p:cNvSpPr/>
            <p:nvPr/>
          </p:nvSpPr>
          <p:spPr>
            <a:xfrm>
              <a:off x="6126480" y="336499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🤟</a:t>
              </a:r>
              <a:endParaRPr lang="en-US" sz="1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537960" y="336499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Avatar</a:t>
              </a:r>
              <a:endParaRPr lang="en-US" sz="13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275320" y="3749040"/>
              <a:ext cx="457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2C55E"/>
                  </a:solidFill>
                </a:rPr>
                <a:t>↓</a:t>
              </a:r>
              <a:endParaRPr lang="en-US" sz="1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943600" y="3886200"/>
              <a:ext cx="4663440" cy="457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2C55E"/>
              </a:solidFill>
              <a:prstDash val="solid"/>
            </a:ln>
            <a:effectLst>
              <a:outerShdw blurRad="101600" dist="50800" dir="2700000" algn="bl" rotWithShape="0">
                <a:srgbClr val="22C55E">
                  <a:alpha val="10000"/>
                </a:srgbClr>
              </a:outerShdw>
            </a:effectLst>
          </p:spPr>
        </p:sp>
        <p:sp>
          <p:nvSpPr>
            <p:cNvPr id="42" name="Text 40"/>
            <p:cNvSpPr/>
            <p:nvPr/>
          </p:nvSpPr>
          <p:spPr>
            <a:xfrm>
              <a:off x="6126480" y="3959352"/>
              <a:ext cx="32004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👁️</a:t>
              </a:r>
              <a:endParaRPr lang="en-US" sz="16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537960" y="3959352"/>
              <a:ext cx="39319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Visual Display</a:t>
              </a:r>
              <a:endParaRPr lang="en-US" sz="13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457200" y="5029200"/>
              <a:ext cx="5029200" cy="1005840"/>
            </a:xfrm>
            <a:prstGeom prst="rect">
              <a:avLst/>
            </a:prstGeom>
            <a:solidFill>
              <a:srgbClr val="06B6D4">
                <a:alpha val="1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731520" y="5120640"/>
              <a:ext cx="44805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Signs:</a:t>
              </a:r>
              <a:endParaRPr lang="en-US" sz="12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731520" y="5376672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"I need an ambulance"</a:t>
              </a:r>
              <a:endParaRPr lang="en-US" sz="14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31520" y="5779008"/>
              <a:ext cx="44805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🔊 Audio Output to Responder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760720" y="5029200"/>
              <a:ext cx="5212080" cy="1005840"/>
            </a:xfrm>
            <a:prstGeom prst="rect">
              <a:avLst/>
            </a:prstGeom>
            <a:solidFill>
              <a:srgbClr val="22C55E">
                <a:alpha val="10000"/>
              </a:srgbClr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6035040" y="5120640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Responder Asks:</a:t>
              </a:r>
              <a:endParaRPr lang="en-US" sz="12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035040" y="5376672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"Are you injured?"</a:t>
              </a:r>
              <a:endParaRPr lang="en-US" sz="14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035040" y="5779008"/>
              <a:ext cx="4663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👁️ Visual &amp; Sign Avatar Display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492B594-03F2-F4F9-A316-E13ABA1A3332}"/>
              </a:ext>
            </a:extLst>
          </p:cNvPr>
          <p:cNvGrpSpPr/>
          <p:nvPr/>
        </p:nvGrpSpPr>
        <p:grpSpPr>
          <a:xfrm>
            <a:off x="125128" y="274320"/>
            <a:ext cx="9156032" cy="4800600"/>
            <a:chOff x="457200" y="274320"/>
            <a:chExt cx="10515600" cy="5440680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Architecture &amp; Technology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0" y="1097280"/>
              <a:ext cx="2743200" cy="2743200"/>
            </a:xfrm>
            <a:prstGeom prst="ellipse">
              <a:avLst/>
            </a:prstGeom>
            <a:solidFill>
              <a:srgbClr val="06B6D4">
                <a:alpha val="80000"/>
              </a:srgbClr>
            </a:solidFill>
            <a:ln w="38100">
              <a:solidFill>
                <a:srgbClr val="06B6D4"/>
              </a:solidFill>
              <a:prstDash val="solid"/>
            </a:ln>
            <a:effectLst>
              <a:outerShdw blurRad="317500" dist="50800" dir="2700000" algn="bl" rotWithShape="0">
                <a:srgbClr val="06B6D4">
                  <a:alpha val="40000"/>
                </a:srgbClr>
              </a:outerShdw>
            </a:effectLst>
          </p:spPr>
        </p:sp>
        <p:sp>
          <p:nvSpPr>
            <p:cNvPr id="4" name="Text 2"/>
            <p:cNvSpPr/>
            <p:nvPr/>
          </p:nvSpPr>
          <p:spPr>
            <a:xfrm>
              <a:off x="4572000" y="1828800"/>
              <a:ext cx="274320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🤖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CogniSign</a:t>
              </a:r>
              <a:endParaRPr lang="en-US" sz="2000" dirty="0"/>
            </a:p>
            <a:p>
              <a:pPr marL="0" indent="0" algn="ctr">
                <a:buNone/>
              </a:pPr>
              <a:r>
                <a:rPr lang="en-US" sz="20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Core</a:t>
              </a:r>
              <a:endParaRPr lang="en-US" sz="2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57200" y="13716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40080" y="15087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📷</a:t>
              </a:r>
              <a:endParaRPr lang="en-US" sz="2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20116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 Input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828800" y="1965960"/>
              <a:ext cx="310896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457200" y="32004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40080" y="33375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🎤</a:t>
              </a:r>
              <a:endParaRPr lang="en-US" sz="2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94360" y="38404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Input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828800" y="3794760"/>
              <a:ext cx="310896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7315200" y="1965960"/>
              <a:ext cx="1783080" cy="0"/>
            </a:xfrm>
            <a:prstGeom prst="line">
              <a:avLst/>
            </a:prstGeom>
            <a:noFill/>
            <a:ln w="25400">
              <a:solidFill>
                <a:srgbClr val="22C55E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9144000" y="13716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9326880" y="15087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🔊</a:t>
              </a:r>
              <a:endParaRPr lang="en-US" sz="28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281160" y="20116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Speech Out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0" y="3794760"/>
              <a:ext cx="1783080" cy="0"/>
            </a:xfrm>
            <a:prstGeom prst="line">
              <a:avLst/>
            </a:prstGeom>
            <a:noFill/>
            <a:ln w="25400">
              <a:solidFill>
                <a:srgbClr val="22C55E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144000" y="3200400"/>
              <a:ext cx="1371600" cy="118872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9326880" y="333756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00000"/>
                  </a:solidFill>
                </a:rPr>
                <a:t>👤</a:t>
              </a:r>
              <a:endParaRPr lang="en-US" sz="2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9281160" y="384048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Sign Avatar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914400" y="4663440"/>
              <a:ext cx="2560320" cy="45720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1051560" y="47091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🤟 Gesture Detection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703320" y="4663440"/>
              <a:ext cx="2560320" cy="45720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3840480" y="47091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🧠 Deep Learning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492240" y="4663440"/>
              <a:ext cx="2560320" cy="45720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629400" y="47091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⚙️ Intent Detection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5349240"/>
              <a:ext cx="10515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Built with: OpenCV • MediaPipe • TensorFlow • NLP Models • Firebase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1189E1C-1684-29F9-A54B-9795843337A7}"/>
              </a:ext>
            </a:extLst>
          </p:cNvPr>
          <p:cNvGrpSpPr/>
          <p:nvPr/>
        </p:nvGrpSpPr>
        <p:grpSpPr>
          <a:xfrm>
            <a:off x="105878" y="274320"/>
            <a:ext cx="8903368" cy="4727448"/>
            <a:chOff x="457200" y="274320"/>
            <a:chExt cx="10515600" cy="5596128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Unique Innovations &amp; Features</a:t>
              </a:r>
              <a:endParaRPr lang="en-US" sz="44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822960"/>
              <a:ext cx="2560320" cy="73152"/>
            </a:xfrm>
            <a:prstGeom prst="rect">
              <a:avLst/>
            </a:prstGeom>
            <a:solidFill>
              <a:srgbClr val="06B6D4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457200" y="1051560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27000" dist="50800" dir="2700000" algn="bl" rotWithShape="0">
                <a:srgbClr val="EF4444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731520" y="1188720"/>
              <a:ext cx="594360" cy="594360"/>
            </a:xfrm>
            <a:prstGeom prst="ellipse">
              <a:avLst/>
            </a:prstGeom>
            <a:solidFill>
              <a:srgbClr val="EF4444">
                <a:alpha val="8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31520" y="1188720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🚨</a:t>
              </a:r>
              <a:endParaRPr 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554480" y="118872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Emergency Vocabulary AI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554480" y="1490472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Specialized training for critical medical &amp; emergency phrases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2039112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27000" dist="50800" dir="2700000" algn="bl" rotWithShape="0">
                <a:srgbClr val="EF4444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731520" y="2176272"/>
              <a:ext cx="594360" cy="594360"/>
            </a:xfrm>
            <a:prstGeom prst="ellipse">
              <a:avLst/>
            </a:prstGeom>
            <a:solidFill>
              <a:srgbClr val="EF4444">
                <a:alpha val="8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31520" y="2176272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⚠️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554480" y="2176272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Priority Detection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554480" y="2478024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Auto-categorizes severity: Critical • High • Medium</a:t>
              </a:r>
              <a:endParaRPr lang="en-US" sz="12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200" y="3026664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6B6D4"/>
              </a:solidFill>
              <a:prstDash val="solid"/>
            </a:ln>
            <a:effectLst>
              <a:outerShdw blurRad="127000" dist="50800" dir="2700000" algn="bl" rotWithShape="0">
                <a:srgbClr val="06B6D4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731520" y="3163824"/>
              <a:ext cx="594360" cy="594360"/>
            </a:xfrm>
            <a:prstGeom prst="ellipse">
              <a:avLst/>
            </a:prstGeom>
            <a:solidFill>
              <a:srgbClr val="06B6D4">
                <a:alpha val="8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31520" y="3163824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📴</a:t>
              </a:r>
              <a:endParaRPr lang="en-US" sz="2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554480" y="3163824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Offline Edge AI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554480" y="3465576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Works without internet during disasters and remote areas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7200" y="4014216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2C55E"/>
              </a:solidFill>
              <a:prstDash val="solid"/>
            </a:ln>
            <a:effectLst>
              <a:outerShdw blurRad="127000" dist="50800" dir="2700000" algn="bl" rotWithShape="0">
                <a:srgbClr val="22C55E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731520" y="4151376"/>
              <a:ext cx="594360" cy="594360"/>
            </a:xfrm>
            <a:prstGeom prst="ellipse">
              <a:avLst/>
            </a:prstGeom>
            <a:solidFill>
              <a:srgbClr val="22C55E">
                <a:alpha val="80000"/>
              </a:srgbClr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31520" y="4151376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🏥</a:t>
              </a:r>
              <a:endParaRPr lang="en-US" sz="2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554480" y="4151376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 Medical Profile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554480" y="4453128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Instantly share blood group, allergies, medications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7200" y="5001768"/>
              <a:ext cx="10515600" cy="86868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EF4444"/>
              </a:solidFill>
              <a:prstDash val="solid"/>
            </a:ln>
            <a:effectLst>
              <a:outerShdw blurRad="127000" dist="50800" dir="2700000" algn="bl" rotWithShape="0">
                <a:srgbClr val="EF4444">
                  <a:alpha val="12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731520" y="5138928"/>
              <a:ext cx="594360" cy="594360"/>
            </a:xfrm>
            <a:prstGeom prst="ellipse">
              <a:avLst/>
            </a:prstGeom>
            <a:solidFill>
              <a:srgbClr val="EF4444">
                <a:alpha val="8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31520" y="5138928"/>
              <a:ext cx="59436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📍</a:t>
              </a:r>
              <a:endParaRPr lang="en-US" sz="2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554480" y="5138928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Gesture-Based SOS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554480" y="5440680"/>
              <a:ext cx="84124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Special emergency gesture to trigger alerts &amp; location share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C66B7EB-394B-2085-D4E0-6D23E2D3958D}"/>
              </a:ext>
            </a:extLst>
          </p:cNvPr>
          <p:cNvGrpSpPr/>
          <p:nvPr/>
        </p:nvGrpSpPr>
        <p:grpSpPr>
          <a:xfrm>
            <a:off x="457200" y="274320"/>
            <a:ext cx="8417293" cy="3739896"/>
            <a:chOff x="457200" y="274320"/>
            <a:chExt cx="10607040" cy="3739896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105156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Technology Stack</a:t>
              </a:r>
              <a:endParaRPr lang="en-US" sz="48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06B6D4"/>
              </a:solidFill>
              <a:prstDash val="solid"/>
            </a:ln>
            <a:effectLst>
              <a:outerShdw blurRad="190500" dist="50800" dir="2700000" algn="bl" rotWithShape="0">
                <a:srgbClr val="06B6D4">
                  <a:alpha val="20000"/>
                </a:srgbClr>
              </a:outerShdw>
            </a:effectLst>
          </p:spPr>
        </p:sp>
        <p:sp>
          <p:nvSpPr>
            <p:cNvPr id="4" name="Shape 2"/>
            <p:cNvSpPr/>
            <p:nvPr/>
          </p:nvSpPr>
          <p:spPr>
            <a:xfrm>
              <a:off x="1440180" y="1234440"/>
              <a:ext cx="548640" cy="548640"/>
            </a:xfrm>
            <a:prstGeom prst="ellipse">
              <a:avLst/>
            </a:prstGeom>
            <a:solidFill>
              <a:srgbClr val="06B6D4">
                <a:alpha val="7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144018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📱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9436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Frontend</a:t>
              </a:r>
              <a:endParaRPr lang="en-US" sz="15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0080" y="2331720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4008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Flutter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40080" y="2770632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64008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React Native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15468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06B6D4"/>
              </a:solidFill>
              <a:prstDash val="solid"/>
            </a:ln>
            <a:effectLst>
              <a:outerShdw blurRad="190500" dist="50800" dir="2700000" algn="bl" rotWithShape="0">
                <a:srgbClr val="06B6D4">
                  <a:alpha val="20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4137660" y="1234440"/>
              <a:ext cx="548640" cy="548640"/>
            </a:xfrm>
            <a:prstGeom prst="ellipse">
              <a:avLst/>
            </a:prstGeom>
            <a:solidFill>
              <a:srgbClr val="06B6D4">
                <a:alpha val="70000"/>
              </a:srgbClr>
            </a:solidFill>
            <a:ln w="19050">
              <a:solidFill>
                <a:srgbClr val="06B6D4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13766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⚙️</a:t>
              </a:r>
              <a:endParaRPr lang="en-US" sz="2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29184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Backend</a:t>
              </a:r>
              <a:endParaRPr lang="en-US" sz="15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337560" y="2331720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33756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FastAPI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337560" y="2770632"/>
              <a:ext cx="2148840" cy="365760"/>
            </a:xfrm>
            <a:prstGeom prst="rect">
              <a:avLst/>
            </a:prstGeom>
            <a:solidFill>
              <a:srgbClr val="06B6D4">
                <a:alpha val="15000"/>
              </a:srgbClr>
            </a:solidFill>
            <a:ln w="12700">
              <a:solidFill>
                <a:srgbClr val="06B6D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333756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Node.js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585216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22C55E"/>
              </a:solidFill>
              <a:prstDash val="solid"/>
            </a:ln>
            <a:effectLst>
              <a:outerShdw blurRad="190500" dist="50800" dir="2700000" algn="bl" rotWithShape="0">
                <a:srgbClr val="22C55E">
                  <a:alpha val="2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6835140" y="1234440"/>
              <a:ext cx="548640" cy="548640"/>
            </a:xfrm>
            <a:prstGeom prst="ellipse">
              <a:avLst/>
            </a:prstGeom>
            <a:solidFill>
              <a:srgbClr val="22C55E">
                <a:alpha val="70000"/>
              </a:srgbClr>
            </a:solidFill>
            <a:ln w="19050">
              <a:solidFill>
                <a:srgbClr val="22C55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83514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🧠</a:t>
              </a:r>
              <a:endParaRPr lang="en-US" sz="2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98932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AI/ML</a:t>
              </a:r>
              <a:endParaRPr lang="en-US" sz="15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035040" y="2331720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03504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OpenCV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035040" y="2770632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03504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MediaPipe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035040" y="3209544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035040" y="3255264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TensorFlow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035040" y="3648456"/>
              <a:ext cx="2148840" cy="36576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6035040" y="3694176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NLP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549640" y="1051560"/>
              <a:ext cx="2514600" cy="2926080"/>
            </a:xfrm>
            <a:prstGeom prst="rect">
              <a:avLst/>
            </a:prstGeom>
            <a:solidFill>
              <a:srgbClr val="1E293B"/>
            </a:solidFill>
            <a:ln w="31750">
              <a:solidFill>
                <a:srgbClr val="EF4444"/>
              </a:solidFill>
              <a:prstDash val="solid"/>
            </a:ln>
            <a:effectLst>
              <a:outerShdw blurRad="190500" dist="50800" dir="2700000" algn="bl" rotWithShape="0">
                <a:srgbClr val="EF4444">
                  <a:alpha val="20000"/>
                </a:srgbClr>
              </a:outerShdw>
            </a:effectLst>
          </p:spPr>
        </p:sp>
        <p:sp>
          <p:nvSpPr>
            <p:cNvPr id="32" name="Shape 30"/>
            <p:cNvSpPr/>
            <p:nvPr/>
          </p:nvSpPr>
          <p:spPr>
            <a:xfrm>
              <a:off x="9532620" y="1234440"/>
              <a:ext cx="548640" cy="548640"/>
            </a:xfrm>
            <a:prstGeom prst="ellipse">
              <a:avLst/>
            </a:prstGeom>
            <a:solidFill>
              <a:srgbClr val="EF4444">
                <a:alpha val="70000"/>
              </a:srgbClr>
            </a:solidFill>
            <a:ln w="19050">
              <a:solidFill>
                <a:srgbClr val="EF4444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9532620" y="123444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🗄️</a:t>
              </a:r>
              <a:endParaRPr lang="en-US" sz="24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8686800" y="192024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Database</a:t>
              </a:r>
              <a:endParaRPr lang="en-US" sz="15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8732520" y="2331720"/>
              <a:ext cx="2148840" cy="365760"/>
            </a:xfrm>
            <a:prstGeom prst="rect">
              <a:avLst/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732520" y="2377440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Firebase</a:t>
              </a:r>
              <a:endParaRPr lang="en-US" sz="11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8732520" y="2770632"/>
              <a:ext cx="2148840" cy="365760"/>
            </a:xfrm>
            <a:prstGeom prst="rect">
              <a:avLst/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8732520" y="2816352"/>
              <a:ext cx="2148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MongoDB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35" y="165846"/>
            <a:ext cx="8551297" cy="34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 &amp;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73966" y="645099"/>
            <a:ext cx="2230773" cy="5007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3329079" y="1136124"/>
            <a:ext cx="2602569" cy="2190950"/>
          </a:xfrm>
          <a:prstGeom prst="ellipse">
            <a:avLst/>
          </a:prstGeom>
          <a:solidFill>
            <a:srgbClr val="06B6D4">
              <a:alpha val="75000"/>
            </a:srgbClr>
          </a:solidFill>
          <a:ln w="317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29079" y="1730811"/>
            <a:ext cx="2602569" cy="100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0F0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>
              <a:solidFill>
                <a:srgbClr val="00B0F0"/>
              </a:solidFill>
              <a:highlight>
                <a:srgbClr val="000000"/>
              </a:highlight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B0F0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CogniSign</a:t>
            </a:r>
            <a:endParaRPr lang="en-US" sz="1800" dirty="0">
              <a:solidFill>
                <a:srgbClr val="00B0F0"/>
              </a:solidFill>
              <a:highlight>
                <a:srgbClr val="000000"/>
              </a:highlight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B0F0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800" dirty="0">
              <a:solidFill>
                <a:srgbClr val="00B0F0"/>
              </a:solidFill>
              <a:highlight>
                <a:srgbClr val="0000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577792" y="823131"/>
            <a:ext cx="966668" cy="813782"/>
          </a:xfrm>
          <a:prstGeom prst="ellipse">
            <a:avLst/>
          </a:prstGeom>
          <a:solidFill>
            <a:srgbClr val="06B6D4">
              <a:alpha val="75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331" y="917029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80356" y="1730811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18830" y="823131"/>
            <a:ext cx="966668" cy="813782"/>
          </a:xfrm>
          <a:prstGeom prst="ellipse">
            <a:avLst/>
          </a:prstGeom>
          <a:solidFill>
            <a:srgbClr val="EF4444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0368" y="917029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121393" y="1730811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996" y="2325497"/>
            <a:ext cx="966668" cy="813782"/>
          </a:xfrm>
          <a:prstGeom prst="ellipse">
            <a:avLst/>
          </a:prstGeom>
          <a:solidFill>
            <a:srgbClr val="EF4444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535" y="2419395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🚑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-91440" y="3233177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6266" y="2325497"/>
            <a:ext cx="966668" cy="813782"/>
          </a:xfrm>
          <a:prstGeom prst="ellipse">
            <a:avLst/>
          </a:prstGeom>
          <a:solidFill>
            <a:srgbClr val="EF4444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27805" y="2419395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👮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418830" y="3233177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792" y="3577469"/>
            <a:ext cx="966668" cy="813782"/>
          </a:xfrm>
          <a:prstGeom prst="ellipse">
            <a:avLst/>
          </a:prstGeom>
          <a:solidFill>
            <a:srgbClr val="22C55E">
              <a:alpha val="7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331" y="3671367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80356" y="4485148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18830" y="3577469"/>
            <a:ext cx="966668" cy="813782"/>
          </a:xfrm>
          <a:prstGeom prst="ellipse">
            <a:avLst/>
          </a:prstGeom>
          <a:solidFill>
            <a:srgbClr val="22C55E">
              <a:alpha val="75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0368" y="3671367"/>
            <a:ext cx="743591" cy="625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121393" y="4485148"/>
            <a:ext cx="1561541" cy="40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71562" y="3483571"/>
            <a:ext cx="924025" cy="219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529FBE-84C2-D88E-26C3-647F36106DFE}"/>
              </a:ext>
            </a:extLst>
          </p:cNvPr>
          <p:cNvGrpSpPr/>
          <p:nvPr/>
        </p:nvGrpSpPr>
        <p:grpSpPr>
          <a:xfrm>
            <a:off x="2506244" y="4109557"/>
            <a:ext cx="554590" cy="532088"/>
            <a:chOff x="3923952" y="4109557"/>
            <a:chExt cx="371796" cy="532088"/>
          </a:xfrm>
        </p:grpSpPr>
        <p:sp>
          <p:nvSpPr>
            <p:cNvPr id="28" name="Text 26"/>
            <p:cNvSpPr/>
            <p:nvPr/>
          </p:nvSpPr>
          <p:spPr>
            <a:xfrm>
              <a:off x="3923952" y="4109557"/>
              <a:ext cx="371796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♿</a:t>
              </a:r>
              <a:endParaRPr lang="en-US" sz="1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923952" y="4422550"/>
              <a:ext cx="371796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🌍</a:t>
              </a:r>
              <a:endParaRPr lang="en-US" sz="18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BF97EA-AD75-1108-68EA-24DC6D501E0A}"/>
              </a:ext>
            </a:extLst>
          </p:cNvPr>
          <p:cNvGrpSpPr/>
          <p:nvPr/>
        </p:nvGrpSpPr>
        <p:grpSpPr>
          <a:xfrm>
            <a:off x="2604482" y="3467921"/>
            <a:ext cx="5223323" cy="1173724"/>
            <a:chOff x="3923952" y="3467921"/>
            <a:chExt cx="4350008" cy="1173724"/>
          </a:xfrm>
        </p:grpSpPr>
        <p:sp>
          <p:nvSpPr>
            <p:cNvPr id="25" name="Text 23"/>
            <p:cNvSpPr/>
            <p:nvPr/>
          </p:nvSpPr>
          <p:spPr>
            <a:xfrm>
              <a:off x="4407286" y="3467921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Faster Emergency Response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923952" y="3796564"/>
              <a:ext cx="371796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🏥</a:t>
              </a:r>
              <a:endParaRPr lang="en-US" sz="18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407286" y="3796564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Improved Healthcare Accessibility</a:t>
              </a:r>
              <a:endParaRPr lang="en-US" sz="13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407286" y="4077828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Reduced Communication Barriers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407286" y="4422550"/>
              <a:ext cx="3866674" cy="2190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Inclusive Public Safety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34413" cy="414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Vision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200" y="726707"/>
            <a:ext cx="1575278" cy="6031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278191" y="915202"/>
            <a:ext cx="2362919" cy="263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6209" y="1292192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3614" y="1367589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1632" y="1367589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Glass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6209" y="1857675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3614" y="1933074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1632" y="1933074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3326" y="915202"/>
            <a:ext cx="2362919" cy="263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42335" y="1292192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9740" y="1367589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7758" y="1367589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42335" y="1857675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9740" y="1933074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🇮🇳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07758" y="1933074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Sign Lang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69451" y="915202"/>
            <a:ext cx="2362919" cy="263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8460" y="1292192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55866" y="1367589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13884" y="1367590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 SOS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48460" y="1857676"/>
            <a:ext cx="2004901" cy="452387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blurRad="101600" dist="50800" dir="2700000" algn="bl" rotWithShape="0">
              <a:srgbClr val="06B6D4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55866" y="1933074"/>
            <a:ext cx="286414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13884" y="1933075"/>
            <a:ext cx="1539478" cy="301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Network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11" y="3554131"/>
            <a:ext cx="7804792" cy="226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2045B94-7D9A-E5CA-AAF2-ADC80454B4EE}"/>
              </a:ext>
            </a:extLst>
          </p:cNvPr>
          <p:cNvGrpSpPr/>
          <p:nvPr/>
        </p:nvGrpSpPr>
        <p:grpSpPr>
          <a:xfrm>
            <a:off x="457200" y="2988646"/>
            <a:ext cx="8234413" cy="1130969"/>
            <a:chOff x="457200" y="3441033"/>
            <a:chExt cx="8234413" cy="1130969"/>
          </a:xfrm>
        </p:grpSpPr>
        <p:sp>
          <p:nvSpPr>
            <p:cNvPr id="25" name="Shape 23"/>
            <p:cNvSpPr/>
            <p:nvPr/>
          </p:nvSpPr>
          <p:spPr>
            <a:xfrm>
              <a:off x="457200" y="3441033"/>
              <a:ext cx="8234413" cy="1130969"/>
            </a:xfrm>
            <a:prstGeom prst="rect">
              <a:avLst/>
            </a:prstGeom>
            <a:solidFill>
              <a:srgbClr val="06B6D4">
                <a:alpha val="12000"/>
              </a:srgbClr>
            </a:solidFill>
            <a:ln w="25400">
              <a:solidFill>
                <a:srgbClr val="06B6D4"/>
              </a:solidFill>
              <a:prstDash val="solid"/>
            </a:ln>
            <a:effectLst>
              <a:outerShdw blurRad="190500" dist="50800" dir="2700000" algn="bl" rotWithShape="0">
                <a:srgbClr val="06B6D4">
                  <a:alpha val="2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672011" y="3818024"/>
              <a:ext cx="7804792" cy="67858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1500" b="1" dirty="0">
                  <a:solidFill>
                    <a:srgbClr val="0206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 create a globally accessible emergency communication network where no person is left behind due to communication barriers.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6EC4D61-72BD-0135-610E-5161944F9355}"/>
              </a:ext>
            </a:extLst>
          </p:cNvPr>
          <p:cNvGrpSpPr/>
          <p:nvPr/>
        </p:nvGrpSpPr>
        <p:grpSpPr>
          <a:xfrm>
            <a:off x="-134754" y="274320"/>
            <a:ext cx="9009247" cy="4673065"/>
            <a:chOff x="457200" y="274320"/>
            <a:chExt cx="10515600" cy="5925312"/>
          </a:xfrm>
        </p:grpSpPr>
        <p:sp>
          <p:nvSpPr>
            <p:cNvPr id="2" name="Shape 0"/>
            <p:cNvSpPr/>
            <p:nvPr/>
          </p:nvSpPr>
          <p:spPr>
            <a:xfrm>
              <a:off x="457200" y="274320"/>
              <a:ext cx="329184" cy="329184"/>
            </a:xfrm>
            <a:prstGeom prst="ellipse">
              <a:avLst/>
            </a:prstGeom>
            <a:solidFill>
              <a:srgbClr val="06B6D4">
                <a:alpha val="40000"/>
              </a:srgbClr>
            </a:solidFill>
            <a:ln/>
            <a:effectLst>
              <a:outerShdw blurRad="3175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3" name="Shape 1"/>
            <p:cNvSpPr/>
            <p:nvPr/>
          </p:nvSpPr>
          <p:spPr>
            <a:xfrm>
              <a:off x="10058400" y="5943600"/>
              <a:ext cx="256032" cy="256032"/>
            </a:xfrm>
            <a:prstGeom prst="ellipse">
              <a:avLst/>
            </a:prstGeom>
            <a:solidFill>
              <a:srgbClr val="22C55E">
                <a:alpha val="40000"/>
              </a:srgbClr>
            </a:solidFill>
            <a:ln/>
            <a:effectLst>
              <a:outerShdw blurRad="317500" dist="50800" dir="2700000" algn="bl" rotWithShape="0">
                <a:srgbClr val="22C55E">
                  <a:alpha val="50000"/>
                </a:srgbClr>
              </a:outerShdw>
            </a:effectLst>
          </p:spPr>
        </p:sp>
        <p:sp>
          <p:nvSpPr>
            <p:cNvPr id="4" name="Shape 2"/>
            <p:cNvSpPr/>
            <p:nvPr/>
          </p:nvSpPr>
          <p:spPr>
            <a:xfrm>
              <a:off x="1371600" y="4572000"/>
              <a:ext cx="219456" cy="219456"/>
            </a:xfrm>
            <a:prstGeom prst="ellipse">
              <a:avLst/>
            </a:prstGeom>
            <a:solidFill>
              <a:srgbClr val="06B6D4">
                <a:alpha val="40000"/>
              </a:srgbClr>
            </a:solidFill>
            <a:ln/>
            <a:effectLst>
              <a:outerShdw blurRad="317500" dist="50800" dir="2700000" algn="bl" rotWithShape="0">
                <a:srgbClr val="06B6D4">
                  <a:alpha val="50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914400" y="73152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Technology has made communication easier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14300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for billions of people worldwide.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914400" y="173736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Yet during emergencies, millions of deaf individuals</a:t>
              </a:r>
              <a:endParaRPr lang="en-US" sz="2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214884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still struggle to be understood.</a:t>
              </a:r>
              <a:endParaRPr lang="en-US" sz="2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371600" y="2834640"/>
              <a:ext cx="9144000" cy="1463040"/>
            </a:xfrm>
            <a:prstGeom prst="rect">
              <a:avLst/>
            </a:prstGeom>
            <a:solidFill>
              <a:srgbClr val="1E293B"/>
            </a:solidFill>
            <a:ln w="38100">
              <a:solidFill>
                <a:srgbClr val="06B6D4"/>
              </a:solidFill>
              <a:prstDash val="solid"/>
            </a:ln>
            <a:effectLst>
              <a:outerShdw blurRad="317500" dist="50800" dir="2700000" algn="bl" rotWithShape="0">
                <a:srgbClr val="06B6D4">
                  <a:alpha val="40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1645920" y="2971800"/>
              <a:ext cx="8595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CogniSign transforms silent emergencies into</a:t>
              </a:r>
              <a:endParaRPr lang="en-US" sz="18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645920" y="3337560"/>
              <a:ext cx="8595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life-saving conversations through real-time</a:t>
              </a:r>
              <a:endParaRPr lang="en-US" sz="1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645920" y="3703320"/>
              <a:ext cx="8595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AI-powered communication.</a:t>
              </a:r>
              <a:endParaRPr lang="en-US" sz="18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4480560"/>
              <a:ext cx="9875520" cy="868680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25400">
              <a:solidFill>
                <a:srgbClr val="22C55E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371600" y="4572000"/>
              <a:ext cx="9326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500" b="1" i="1" dirty="0">
                  <a:solidFill>
                    <a:srgbClr val="22C5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"Because in an emergency, every second matters and every sign deserves to be understood."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14400" y="5450000"/>
              <a:ext cx="10058400" cy="22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8BDF8"/>
                  </a:solidFill>
                  <a:latin typeface="Arial" pitchFamily="34" charset="0"/>
                </a:rPr>
                <a:t>Jahnavi Polishetty</a:t>
              </a:r>
              <a:r>
                <a:rPr lang="en-US" sz="1000" b="0" dirty="0">
                  <a:solidFill>
                    <a:srgbClr val="64748B"/>
                  </a:solidFill>
                  <a:latin typeface="Arial" pitchFamily="34" charset="0"/>
                </a:rPr>
                <a:t>  •  </a:t>
              </a:r>
              <a:r>
                <a:rPr lang="en-US" sz="1200" b="1" dirty="0">
                  <a:solidFill>
                    <a:srgbClr val="A78BFA"/>
                  </a:solidFill>
                  <a:latin typeface="Arial" pitchFamily="34" charset="0"/>
                </a:rPr>
                <a:t>Indrani</a:t>
              </a:r>
              <a:r>
                <a:rPr lang="en-US" sz="1000" b="0" dirty="0">
                  <a:solidFill>
                    <a:srgbClr val="64748B"/>
                  </a:solidFill>
                  <a:latin typeface="Arial" pitchFamily="34" charset="0"/>
                </a:rPr>
                <a:t>  •  </a:t>
              </a:r>
              <a:r>
                <a:rPr lang="en-US" sz="1200" b="1" dirty="0">
                  <a:solidFill>
                    <a:srgbClr val="34D399"/>
                  </a:solidFill>
                  <a:latin typeface="Arial" pitchFamily="34" charset="0"/>
                </a:rPr>
                <a:t>Kesani Sai Charan</a:t>
              </a:r>
              <a:endParaRPr lang="en-US" sz="12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914400" y="5680000"/>
              <a:ext cx="10058400" cy="22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0" u="sng" dirty="0">
                  <a:solidFill>
                    <a:srgbClr val="38BDF8"/>
                  </a:solidFill>
                  <a:latin typeface="Arial" pitchFamily="34" charset="0"/>
                  <a:hlinkClick r:id="rId3"/>
                </a:rPr>
                <a:t>https://kesanisaicharan.github.io/cognisign/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747</Words>
  <Application>Microsoft Office PowerPoint</Application>
  <PresentationFormat>On-screen Show (16:9)</PresentationFormat>
  <Paragraphs>260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Polisetty Jahnavi</cp:lastModifiedBy>
  <cp:revision>3</cp:revision>
  <dcterms:created xsi:type="dcterms:W3CDTF">2026-06-13T05:41:39Z</dcterms:created>
  <dcterms:modified xsi:type="dcterms:W3CDTF">2026-06-13T16:20:58Z</dcterms:modified>
</cp:coreProperties>
</file>